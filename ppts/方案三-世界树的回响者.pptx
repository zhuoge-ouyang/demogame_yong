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1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8288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27432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0" y="5486400"/>
            <a:ext cx="18288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0" y="4389120"/>
            <a:ext cx="27432" cy="10972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ECHO OF YGGDRASIL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方案三：世界树的回响者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029200" y="3566160"/>
            <a:ext cx="2130552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8404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8BF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世界树临终前的最后一个念头，化为了你的意识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 CONTENTS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0972800" cy="4937760"/>
        </p:xfrm>
        <a:graphic>
          <a:graphicData uri="http://schemas.openxmlformats.org/drawingml/2006/table">
            <a:tbl>
              <a:tblPr/>
              <a:tblGrid>
                <a:gridCol w="1097280"/>
                <a:gridCol w="987552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D4AF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01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方案核心概念 Core Concept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D4AF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02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玩家身份定位 Player Identity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D4AF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03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城堡转移机制 Castle Transfer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D4AF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04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城堡攻击逻辑 Attack Logic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D4AF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05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玩家涉险原因 Why the Player Takes Risks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D4AF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06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世界观一致性分析 Consistency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D4AF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07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优点与缺点与玩法影响 Pros &amp; Cons &amp; Gameplay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D4AF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08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总结 Summary</a:t>
                      </a:r>
                      <a:endParaRPr lang="en-US" sz="18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方案核心概念 CORE CONCEPT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500" b="1" dirty="0">
                <a:solidFill>
                  <a:srgbClr val="4A9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【世界树的一缕回响】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玩家是世界树在凡界投射的最后一缕意识回响。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世界树在圣心城崩溃时注入了最后一丝清醒意识到方舟堡核心根须。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玩家不是世界树本身，是"临终前的一个念头"——有使命但不知来源的意识体。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没有肉身，以光影/魂能投影存在，能感知各大陆元素脉动。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玩家身份定位 PLAYER IDENTITY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500" b="1" dirty="0">
                <a:solidFill>
                  <a:srgbClr val="4A9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【世界树最后的意识碎片】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携带世界树的共鸣频率，领主们作为封魂令守锚者能本能感受，被共鸣牵引而非被命令。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牵引力随故事推进增强，从"隐约感应"到"无法忽视的呼唤"。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意识投影无物理干预能力，必须通过英雄执行。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城堡转移机制 CASTLE TRANSFER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500" b="1" dirty="0">
                <a:solidFill>
                  <a:srgbClr val="4A9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【种子生长机制】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方舟堡=世界树根须的"种子"，沿根脉网络移动，在符文通道节点"发芽生长"。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转移时收缩回根脉（解体为魂能），到新位置重新"生长"。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撤离时保留部分"根基"——为回访机制埋下伏笔。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城堡攻击逻辑 ATTACK LOGIC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500" b="1" dirty="0">
                <a:solidFill>
                  <a:srgbClr val="4A9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【三层递进围猎】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第一章（木大陆）：纯被动吸引——深渊尚未察觉世界树意识存活。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第二章（冰大陆）：深渊察觉世界树意识存活，攻击组织度显著提升。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第三章（火大陆）：奈克瑟尔识别真正身份，全力围攻，进入高潮。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玩家涉险原因 WHY THE PLAYER TAKES RISKS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500" b="1" dirty="0">
                <a:solidFill>
                  <a:srgbClr val="4A9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【谐振续命机制】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只有在封魂令石碑附近才能通过根脉建立临时谐振——不是修复，是"续命"。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玩家在场可将封魂令碎裂时间从数月延长到数年。</a:t>
            </a:r>
            <a:endParaRPr lang="en-US" sz="1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一个意识体一次只能在一处谐振，因此必须亲赴每个大陆。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世界观一致性分析 CONSISTENCY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0972800" cy="5029200"/>
        </p:xfrm>
        <a:graphic>
          <a:graphicData uri="http://schemas.openxmlformats.org/drawingml/2006/table">
            <a:tbl>
              <a:tblPr/>
              <a:tblGrid>
                <a:gridCol w="2743200"/>
                <a:gridCol w="8229600"/>
              </a:tblGrid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4AF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一致性维度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4AF37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对应说明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世界树连通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世界树连通三界→天然跨界感知，无需额外解释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谐振机制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谐振机制解释与封魂令互动→"续命"设定新颖且自洽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艾蕾尼娅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艾蕾尼娅是世界树守护者→与玩家联系天然合理，无需额外铺垫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21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递进围猎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5F0E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递进围猎匹配奈克瑟尔智慧反派形象→敌人成长曲线清晰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0D1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优点 ADVANTAGES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10972800" cy="969264"/>
          </a:xfrm>
          <a:prstGeom prst="rect">
            <a:avLst/>
          </a:prstGeom>
          <a:solidFill>
            <a:srgbClr val="161625"/>
          </a:solidFill>
          <a:ln w="12700">
            <a:solidFill>
              <a:srgbClr val="4A9E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99032"/>
            <a:ext cx="109728" cy="109728"/>
          </a:xfrm>
          <a:prstGeom prst="rect">
            <a:avLst/>
          </a:prstGeom>
          <a:solidFill>
            <a:srgbClr val="4A9E5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身份揭示弧线最深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102412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从"不知自己是谁"到"世界树回响"，拥有最完整的身份揭示弧线，剧情张力最强。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40864"/>
            <a:ext cx="10972800" cy="969264"/>
          </a:xfrm>
          <a:prstGeom prst="rect">
            <a:avLst/>
          </a:prstGeom>
          <a:solidFill>
            <a:srgbClr val="161625"/>
          </a:solidFill>
          <a:ln w="12700">
            <a:solidFill>
              <a:srgbClr val="4A9E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505456"/>
            <a:ext cx="109728" cy="109728"/>
          </a:xfrm>
          <a:prstGeom prst="rect">
            <a:avLst/>
          </a:prstGeom>
          <a:solidFill>
            <a:srgbClr val="4A9E5C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432304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与世界树设定高度契合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798064"/>
            <a:ext cx="102412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"回响"概念完美嵌入三界世界观，不引入任何外来元素。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447288"/>
            <a:ext cx="10972800" cy="969264"/>
          </a:xfrm>
          <a:prstGeom prst="rect">
            <a:avLst/>
          </a:prstGeom>
          <a:solidFill>
            <a:srgbClr val="161625"/>
          </a:solidFill>
          <a:ln w="12700">
            <a:solidFill>
              <a:srgbClr val="4A9E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611880"/>
            <a:ext cx="109728" cy="109728"/>
          </a:xfrm>
          <a:prstGeom prst="rect">
            <a:avLst/>
          </a:prstGeom>
          <a:solidFill>
            <a:srgbClr val="4A9E5C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538728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共鸣牵引避免权力尴尬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904488"/>
            <a:ext cx="102412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"被共鸣牵引"比"被命令"更优雅，领主追随是本能而非服从。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553712"/>
            <a:ext cx="10972800" cy="969264"/>
          </a:xfrm>
          <a:prstGeom prst="rect">
            <a:avLst/>
          </a:prstGeom>
          <a:solidFill>
            <a:srgbClr val="161625"/>
          </a:solidFill>
          <a:ln w="12700">
            <a:solidFill>
              <a:srgbClr val="4A9E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718304"/>
            <a:ext cx="109728" cy="109728"/>
          </a:xfrm>
          <a:prstGeom prst="rect">
            <a:avLst/>
          </a:prstGeom>
          <a:solidFill>
            <a:srgbClr val="4A9E5C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645152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递进攻击每章不同紧张感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5010912"/>
            <a:ext cx="102412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从被动吸引到全力围攻，三章三种战斗氛围，避免重复感。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660136"/>
            <a:ext cx="10972800" cy="969264"/>
          </a:xfrm>
          <a:prstGeom prst="rect">
            <a:avLst/>
          </a:prstGeom>
          <a:solidFill>
            <a:srgbClr val="161625"/>
          </a:solidFill>
          <a:ln w="12700">
            <a:solidFill>
              <a:srgbClr val="4A9E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5824728"/>
            <a:ext cx="109728" cy="109728"/>
          </a:xfrm>
          <a:prstGeom prst="rect">
            <a:avLst/>
          </a:prstGeom>
          <a:solidFill>
            <a:srgbClr val="4A9E5C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5751576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E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可发展"世界树觉醒"史诗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5840" y="6117336"/>
            <a:ext cx="1024128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为后期"世界树重生"等史诗级叙事预留最大空间。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缺点 DISADVANTAGES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10972800" cy="1615440"/>
          </a:xfrm>
          <a:prstGeom prst="rect">
            <a:avLst/>
          </a:prstGeom>
          <a:solidFill>
            <a:srgbClr val="161625"/>
          </a:solidFill>
          <a:ln w="12700">
            <a:solidFill>
              <a:srgbClr val="9B3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99032"/>
            <a:ext cx="109728" cy="109728"/>
          </a:xfrm>
          <a:prstGeom prst="rect">
            <a:avLst/>
          </a:prstGeom>
          <a:solidFill>
            <a:srgbClr val="9B3D3D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与"纯外部操控者"冲突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10241280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"意识体也是玩家化身"与"纯外部操控者"的原始设计有理念冲突，需要调和。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87040"/>
            <a:ext cx="10972800" cy="1615440"/>
          </a:xfrm>
          <a:prstGeom prst="rect">
            <a:avLst/>
          </a:prstGeom>
          <a:solidFill>
            <a:srgbClr val="161625"/>
          </a:solidFill>
          <a:ln w="12700">
            <a:solidFill>
              <a:srgbClr val="9B3D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151632"/>
            <a:ext cx="109728" cy="109728"/>
          </a:xfrm>
          <a:prstGeom prst="rect">
            <a:avLst/>
          </a:prstGeom>
          <a:solidFill>
            <a:srgbClr val="9B3D3D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0784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"意识体"表达需精心设计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444240"/>
            <a:ext cx="10241280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光影/魂能投影的视觉表现和交互设计挑战性高，处理不好会显得空洞。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739640"/>
            <a:ext cx="10972800" cy="1615440"/>
          </a:xfrm>
          <a:prstGeom prst="rect">
            <a:avLst/>
          </a:prstGeom>
          <a:solidFill>
            <a:srgbClr val="161625"/>
          </a:solidFill>
          <a:ln w="12700">
            <a:solidFill>
              <a:srgbClr val="9B3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904232"/>
            <a:ext cx="109728" cy="109728"/>
          </a:xfrm>
          <a:prstGeom prst="rect">
            <a:avLst/>
          </a:prstGeom>
          <a:solidFill>
            <a:srgbClr val="9B3D3D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8310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B3D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身份揭示处理不当破坏沉浸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5196840"/>
            <a:ext cx="10241280" cy="1066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如果揭示时机或方式不当，可能让玩家感到"被欺骗"而非"恍然大悟"。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 玩法影响 GAMEPLAY IMPACT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10972800" cy="1211580"/>
          </a:xfrm>
          <a:prstGeom prst="rect">
            <a:avLst/>
          </a:prstGeom>
          <a:solidFill>
            <a:srgbClr val="161625"/>
          </a:solidFill>
          <a:ln w="12700">
            <a:solidFill>
              <a:srgbClr val="6BB8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99032"/>
            <a:ext cx="109728" cy="109728"/>
          </a:xfrm>
          <a:prstGeom prst="rect">
            <a:avLst/>
          </a:prstGeom>
          <a:solidFill>
            <a:srgbClr val="6BB8D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B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谐振机制=独特养成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10241280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谐振深度可作为独特养成维度，区别于传统等级/装备系统。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83180"/>
            <a:ext cx="10972800" cy="1211580"/>
          </a:xfrm>
          <a:prstGeom prst="rect">
            <a:avLst/>
          </a:prstGeom>
          <a:solidFill>
            <a:srgbClr val="161625"/>
          </a:solidFill>
          <a:ln w="12700">
            <a:solidFill>
              <a:srgbClr val="6BB8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747772"/>
            <a:ext cx="109728" cy="109728"/>
          </a:xfrm>
          <a:prstGeom prst="rect">
            <a:avLst/>
          </a:prstGeom>
          <a:solidFill>
            <a:srgbClr val="6BB8D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67462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B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递进难度匹配成长曲线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040380"/>
            <a:ext cx="10241280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敌人从混乱到组织化到精英化，天然匹配玩家三章成长曲线。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10972800" cy="1211580"/>
          </a:xfrm>
          <a:prstGeom prst="rect">
            <a:avLst/>
          </a:prstGeom>
          <a:solidFill>
            <a:srgbClr val="161625"/>
          </a:solidFill>
          <a:ln w="12700">
            <a:solidFill>
              <a:srgbClr val="6BB8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4096512"/>
            <a:ext cx="109728" cy="109728"/>
          </a:xfrm>
          <a:prstGeom prst="rect">
            <a:avLst/>
          </a:prstGeom>
          <a:solidFill>
            <a:srgbClr val="6BB8D4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02336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B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种子城堡=仪式感动画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4389120"/>
            <a:ext cx="10241280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城堡生长/收缩的动画充满生命力，章节过渡仪式感十足。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280660"/>
            <a:ext cx="10972800" cy="1211580"/>
          </a:xfrm>
          <a:prstGeom prst="rect">
            <a:avLst/>
          </a:prstGeom>
          <a:solidFill>
            <a:srgbClr val="161625"/>
          </a:solidFill>
          <a:ln w="12700">
            <a:solidFill>
              <a:srgbClr val="6BB8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5445252"/>
            <a:ext cx="109728" cy="109728"/>
          </a:xfrm>
          <a:prstGeom prst="rect">
            <a:avLst/>
          </a:prstGeom>
          <a:solidFill>
            <a:srgbClr val="6BB8D4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537210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B8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回访机制增加策略深度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5737860"/>
            <a:ext cx="10241280" cy="6629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保留"根基"的设计为后期回访、多线运营等策略玩法留下空间。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总结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2286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400"/>
              </a:lnSpc>
              <a:buNone/>
            </a:pPr>
            <a:r>
              <a:rPr lang="en-US" sz="17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方案三是最"史诗叙事"的玩家身份设定。
</a:t>
            </a:r>
            <a:endParaRPr lang="en-US" sz="1700" dirty="0"/>
          </a:p>
          <a:p>
            <a:pPr algn="ctr" indent="0" marL="0">
              <a:lnSpc>
                <a:spcPts val="3400"/>
              </a:lnSpc>
              <a:buNone/>
            </a:pPr>
            <a:r>
              <a:rPr lang="en-US" sz="17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身份弧线最深、世界观契合度最高、后期扩展空间最大。
</a:t>
            </a:r>
            <a:endParaRPr lang="en-US" sz="1700" dirty="0"/>
          </a:p>
          <a:p>
            <a:pPr algn="ctr" indent="0" marL="0">
              <a:lnSpc>
                <a:spcPts val="3400"/>
              </a:lnSpc>
              <a:buNone/>
            </a:pPr>
            <a:r>
              <a:rPr lang="en-US" sz="17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代价是表达难度和与原始设计概念的调和成本。
</a:t>
            </a:r>
            <a:endParaRPr lang="en-US" sz="1700" dirty="0"/>
          </a:p>
          <a:p>
            <a:pPr algn="ctr" indent="0" marL="0">
              <a:lnSpc>
                <a:spcPts val="3400"/>
              </a:lnSpc>
              <a:buNone/>
            </a:pPr>
            <a:r>
              <a:rPr lang="en-US" sz="1700" dirty="0">
                <a:solidFill>
                  <a:srgbClr val="F5F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适合追求"叙事驱动型塔防"、愿意投入叙事资源的精品方向。
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852160" y="1051560"/>
            <a:ext cx="228600" cy="228600"/>
          </a:xfrm>
          <a:prstGeom prst="diamond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6537960"/>
            <a:ext cx="11274552" cy="18288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2026-04-26T05:53:04Z</dcterms:created>
  <dcterms:modified xsi:type="dcterms:W3CDTF">2026-04-26T05:53:04Z</dcterms:modified>
</cp:coreProperties>
</file>